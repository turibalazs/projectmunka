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2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4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8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7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8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3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4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9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1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121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67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94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6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5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47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4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750630"/>
            <a:ext cx="8689976" cy="1286717"/>
          </a:xfrm>
        </p:spPr>
        <p:txBody>
          <a:bodyPr/>
          <a:lstStyle/>
          <a:p>
            <a:r>
              <a:rPr dirty="0" err="1"/>
              <a:t>Autókölcsönző</a:t>
            </a:r>
            <a:r>
              <a:rPr dirty="0"/>
              <a:t> </a:t>
            </a:r>
            <a:r>
              <a:rPr dirty="0" err="1"/>
              <a:t>Rendszer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6504" y="3820653"/>
            <a:ext cx="8637072" cy="2140309"/>
          </a:xfrm>
        </p:spPr>
        <p:txBody>
          <a:bodyPr>
            <a:noAutofit/>
          </a:bodyPr>
          <a:lstStyle/>
          <a:p>
            <a:r>
              <a:rPr sz="1600" b="1" dirty="0">
                <a:solidFill>
                  <a:schemeClr val="tx1"/>
                </a:solidFill>
              </a:rPr>
              <a:t>WPF </a:t>
            </a:r>
            <a:r>
              <a:rPr sz="1600" b="1" dirty="0" err="1">
                <a:solidFill>
                  <a:schemeClr val="tx1"/>
                </a:solidFill>
              </a:rPr>
              <a:t>alapú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sz="1600" b="1" dirty="0" err="1">
                <a:solidFill>
                  <a:schemeClr val="tx1"/>
                </a:solidFill>
              </a:rPr>
              <a:t>grafikus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sz="1600" b="1" dirty="0" err="1">
                <a:solidFill>
                  <a:schemeClr val="tx1"/>
                </a:solidFill>
              </a:rPr>
              <a:t>adatbázis-kezelő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sz="1600" b="1" dirty="0" err="1">
                <a:solidFill>
                  <a:schemeClr val="tx1"/>
                </a:solidFill>
              </a:rPr>
              <a:t>alkalmazás</a:t>
            </a:r>
            <a:endParaRPr sz="1600" b="1" dirty="0">
              <a:solidFill>
                <a:schemeClr val="tx1"/>
              </a:solidFill>
            </a:endParaRPr>
          </a:p>
          <a:p>
            <a:r>
              <a:rPr lang="hu-HU" sz="1600" b="1" dirty="0">
                <a:solidFill>
                  <a:schemeClr val="tx1"/>
                </a:solidFill>
              </a:rPr>
              <a:t>Gaál Péter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lang="hu-HU" sz="1600" b="1" dirty="0">
                <a:solidFill>
                  <a:schemeClr val="tx1"/>
                </a:solidFill>
              </a:rPr>
              <a:t>–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lang="hu-HU" sz="1600" b="1" dirty="0">
                <a:solidFill>
                  <a:schemeClr val="tx1"/>
                </a:solidFill>
              </a:rPr>
              <a:t>GULX05</a:t>
            </a:r>
            <a:endParaRPr sz="1600" b="1" dirty="0">
              <a:solidFill>
                <a:schemeClr val="tx1"/>
              </a:solidFill>
            </a:endParaRPr>
          </a:p>
          <a:p>
            <a:r>
              <a:rPr lang="hu-HU" sz="1600" b="1" dirty="0">
                <a:solidFill>
                  <a:schemeClr val="tx1"/>
                </a:solidFill>
              </a:rPr>
              <a:t>Túri Balázs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lang="hu-HU" sz="1600" b="1" dirty="0">
                <a:solidFill>
                  <a:schemeClr val="tx1"/>
                </a:solidFill>
              </a:rPr>
              <a:t>–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lang="hu-HU" sz="1600" b="1" dirty="0">
                <a:solidFill>
                  <a:schemeClr val="tx1"/>
                </a:solidFill>
              </a:rPr>
              <a:t>GJ8N08</a:t>
            </a:r>
            <a:endParaRPr sz="1600" b="1" dirty="0">
              <a:solidFill>
                <a:schemeClr val="tx1"/>
              </a:solidFill>
            </a:endParaRPr>
          </a:p>
          <a:p>
            <a:r>
              <a:rPr sz="1600" b="1" dirty="0" err="1">
                <a:solidFill>
                  <a:schemeClr val="tx1"/>
                </a:solidFill>
              </a:rPr>
              <a:t>Vizuális</a:t>
            </a: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sz="1600" b="1" dirty="0" err="1">
                <a:solidFill>
                  <a:schemeClr val="tx1"/>
                </a:solidFill>
              </a:rPr>
              <a:t>Programozás</a:t>
            </a:r>
            <a:r>
              <a:rPr sz="1600" b="1" dirty="0">
                <a:solidFill>
                  <a:schemeClr val="tx1"/>
                </a:solidFill>
              </a:rPr>
              <a:t> - 202</a:t>
            </a:r>
            <a:r>
              <a:rPr lang="hu-HU" sz="1600" b="1" dirty="0">
                <a:solidFill>
                  <a:schemeClr val="tx1"/>
                </a:solidFill>
              </a:rPr>
              <a:t>5</a:t>
            </a:r>
            <a:r>
              <a:rPr sz="1600" b="1" dirty="0">
                <a:solidFill>
                  <a:schemeClr val="tx1"/>
                </a:solidFill>
              </a:rPr>
              <a:t>/202</a:t>
            </a:r>
            <a:r>
              <a:rPr lang="hu-HU" sz="1600" b="1" dirty="0">
                <a:solidFill>
                  <a:schemeClr val="tx1"/>
                </a:solidFill>
              </a:rPr>
              <a:t>6</a:t>
            </a:r>
            <a:endParaRPr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bemutató</a:t>
            </a:r>
            <a:r>
              <a:rPr dirty="0"/>
              <a:t> </a:t>
            </a:r>
            <a:r>
              <a:rPr dirty="0" err="1"/>
              <a:t>tartalma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75782"/>
          </a:xfrm>
        </p:spPr>
        <p:txBody>
          <a:bodyPr numCol="2">
            <a:no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600" dirty="0"/>
              <a:t>1. A </a:t>
            </a:r>
            <a:r>
              <a:rPr sz="1600" dirty="0" err="1"/>
              <a:t>projekt</a:t>
            </a:r>
            <a:r>
              <a:rPr sz="1600" dirty="0"/>
              <a:t> </a:t>
            </a:r>
            <a:r>
              <a:rPr sz="1600" dirty="0" err="1"/>
              <a:t>áttekintése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2. </a:t>
            </a:r>
            <a:r>
              <a:rPr sz="1600" dirty="0" err="1"/>
              <a:t>Adatbázis</a:t>
            </a:r>
            <a:r>
              <a:rPr sz="1600" dirty="0"/>
              <a:t> </a:t>
            </a:r>
            <a:r>
              <a:rPr sz="1600" dirty="0" err="1"/>
              <a:t>felépítése</a:t>
            </a:r>
            <a:r>
              <a:rPr sz="1600" dirty="0"/>
              <a:t> (3 </a:t>
            </a:r>
            <a:r>
              <a:rPr sz="1600" dirty="0" err="1"/>
              <a:t>tábla</a:t>
            </a:r>
            <a:r>
              <a:rPr sz="1600" dirty="0"/>
              <a:t>, </a:t>
            </a:r>
            <a:r>
              <a:rPr sz="1600" dirty="0" err="1"/>
              <a:t>kapcsolatok</a:t>
            </a:r>
            <a:r>
              <a:rPr sz="1600"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3. </a:t>
            </a:r>
            <a:r>
              <a:rPr sz="1600" dirty="0" err="1"/>
              <a:t>Alkalmazás</a:t>
            </a:r>
            <a:r>
              <a:rPr sz="1600" dirty="0"/>
              <a:t> </a:t>
            </a:r>
            <a:r>
              <a:rPr sz="1600" dirty="0" err="1"/>
              <a:t>felülete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funkciói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4. </a:t>
            </a:r>
            <a:r>
              <a:rPr sz="1600" dirty="0" err="1"/>
              <a:t>Autók</a:t>
            </a:r>
            <a:r>
              <a:rPr sz="1600" dirty="0"/>
              <a:t> </a:t>
            </a:r>
            <a:r>
              <a:rPr sz="1600" dirty="0" err="1"/>
              <a:t>kezelése</a:t>
            </a:r>
            <a:r>
              <a:rPr sz="1600" dirty="0"/>
              <a:t> - CRUD </a:t>
            </a:r>
            <a:r>
              <a:rPr sz="1600" dirty="0" err="1"/>
              <a:t>műveletek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5. </a:t>
            </a:r>
            <a:r>
              <a:rPr sz="1600" dirty="0" err="1"/>
              <a:t>Ügyfelek</a:t>
            </a:r>
            <a:r>
              <a:rPr sz="1600" dirty="0"/>
              <a:t> </a:t>
            </a:r>
            <a:r>
              <a:rPr sz="1600" dirty="0" err="1"/>
              <a:t>kezelése</a:t>
            </a:r>
            <a:r>
              <a:rPr sz="1600" dirty="0"/>
              <a:t> - CRUD </a:t>
            </a:r>
            <a:r>
              <a:rPr sz="1600" dirty="0" err="1"/>
              <a:t>műveletek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6. </a:t>
            </a:r>
            <a:r>
              <a:rPr sz="1600" dirty="0" err="1"/>
              <a:t>Kölcsönzések</a:t>
            </a:r>
            <a:r>
              <a:rPr sz="1600" dirty="0"/>
              <a:t> </a:t>
            </a:r>
            <a:r>
              <a:rPr sz="1600" dirty="0" err="1"/>
              <a:t>kezelése</a:t>
            </a:r>
            <a:r>
              <a:rPr sz="1600" dirty="0"/>
              <a:t> - CRUD </a:t>
            </a:r>
            <a:r>
              <a:rPr sz="1600" dirty="0" err="1"/>
              <a:t>műveletek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7. </a:t>
            </a:r>
            <a:r>
              <a:rPr sz="1600" dirty="0" err="1"/>
              <a:t>Keresés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szűrés</a:t>
            </a:r>
            <a:r>
              <a:rPr sz="1600" dirty="0"/>
              <a:t> </a:t>
            </a:r>
            <a:r>
              <a:rPr sz="1600" dirty="0" err="1"/>
              <a:t>funkció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8. </a:t>
            </a:r>
            <a:r>
              <a:rPr sz="1600" dirty="0" err="1"/>
              <a:t>Adatvalidáció</a:t>
            </a:r>
            <a:r>
              <a:rPr sz="1600" dirty="0"/>
              <a:t> </a:t>
            </a:r>
            <a:r>
              <a:rPr sz="1600" dirty="0" err="1"/>
              <a:t>bemutatása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9. WPF </a:t>
            </a:r>
            <a:r>
              <a:rPr sz="1600" dirty="0" err="1"/>
              <a:t>tervezés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kódrészletek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10. </a:t>
            </a:r>
            <a:r>
              <a:rPr sz="1600" dirty="0" err="1"/>
              <a:t>Összefoglalás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projekt áttekintése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800"/>
              </a:spcAft>
              <a:defRPr sz="1800"/>
            </a:pPr>
            <a:r>
              <a:rPr dirty="0" err="1"/>
              <a:t>Autókölcsönző</a:t>
            </a:r>
            <a:r>
              <a:rPr dirty="0"/>
              <a:t> </a:t>
            </a:r>
            <a:r>
              <a:rPr dirty="0" err="1"/>
              <a:t>nyilvántartó</a:t>
            </a:r>
            <a:r>
              <a:rPr dirty="0"/>
              <a:t> </a:t>
            </a:r>
            <a:r>
              <a:rPr dirty="0" err="1"/>
              <a:t>rendszer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Technológia</a:t>
            </a:r>
            <a:r>
              <a:rPr dirty="0"/>
              <a:t>: C# / .NET </a:t>
            </a:r>
            <a:r>
              <a:rPr lang="hu-HU" dirty="0"/>
              <a:t>10</a:t>
            </a:r>
            <a:r>
              <a:rPr dirty="0"/>
              <a:t> / WPF / MS SQL Server Express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3 </a:t>
            </a:r>
            <a:r>
              <a:rPr dirty="0" err="1"/>
              <a:t>entitás</a:t>
            </a:r>
            <a:r>
              <a:rPr dirty="0"/>
              <a:t>: </a:t>
            </a:r>
            <a:r>
              <a:rPr dirty="0" err="1"/>
              <a:t>Autók</a:t>
            </a:r>
            <a:r>
              <a:rPr dirty="0"/>
              <a:t>, </a:t>
            </a:r>
            <a:r>
              <a:rPr dirty="0" err="1"/>
              <a:t>Ügyfelek</a:t>
            </a:r>
            <a:r>
              <a:rPr dirty="0"/>
              <a:t>, </a:t>
            </a:r>
            <a:r>
              <a:rPr dirty="0" err="1"/>
              <a:t>Kölcsönzések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Teljes</a:t>
            </a:r>
            <a:r>
              <a:rPr dirty="0"/>
              <a:t> CRUD (</a:t>
            </a:r>
            <a:r>
              <a:rPr dirty="0" err="1"/>
              <a:t>létrehozás</a:t>
            </a:r>
            <a:r>
              <a:rPr dirty="0"/>
              <a:t>, </a:t>
            </a:r>
            <a:r>
              <a:rPr dirty="0" err="1"/>
              <a:t>olvasás</a:t>
            </a:r>
            <a:r>
              <a:rPr dirty="0"/>
              <a:t>, </a:t>
            </a:r>
            <a:r>
              <a:rPr dirty="0" err="1"/>
              <a:t>módosítás</a:t>
            </a:r>
            <a:r>
              <a:rPr dirty="0"/>
              <a:t>, </a:t>
            </a:r>
            <a:r>
              <a:rPr dirty="0" err="1"/>
              <a:t>törlés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Keresés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szűrés</a:t>
            </a:r>
            <a:r>
              <a:rPr dirty="0"/>
              <a:t> </a:t>
            </a:r>
            <a:r>
              <a:rPr dirty="0" err="1"/>
              <a:t>minden</a:t>
            </a:r>
            <a:r>
              <a:rPr dirty="0"/>
              <a:t> </a:t>
            </a:r>
            <a:r>
              <a:rPr dirty="0" err="1"/>
              <a:t>entitásra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Ellenőrzött</a:t>
            </a:r>
            <a:r>
              <a:rPr dirty="0"/>
              <a:t> </a:t>
            </a:r>
            <a:r>
              <a:rPr dirty="0" err="1"/>
              <a:t>adatbevitel</a:t>
            </a:r>
            <a:r>
              <a:rPr dirty="0"/>
              <a:t> (</a:t>
            </a:r>
            <a:r>
              <a:rPr dirty="0" err="1"/>
              <a:t>validáció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Magyar </a:t>
            </a:r>
            <a:r>
              <a:rPr dirty="0" err="1"/>
              <a:t>nyelvű</a:t>
            </a:r>
            <a:r>
              <a:rPr dirty="0"/>
              <a:t> </a:t>
            </a:r>
            <a:r>
              <a:rPr dirty="0" err="1"/>
              <a:t>felület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forráskód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Adatbázis felépítése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Adatbázis</a:t>
            </a:r>
            <a:r>
              <a:rPr dirty="0"/>
              <a:t> </a:t>
            </a:r>
            <a:r>
              <a:rPr dirty="0" err="1"/>
              <a:t>táblák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1800"/>
            </a:pPr>
            <a:r>
              <a:rPr dirty="0" err="1"/>
              <a:t>Autok</a:t>
            </a:r>
            <a:r>
              <a:rPr dirty="0"/>
              <a:t> </a:t>
            </a:r>
            <a:r>
              <a:rPr dirty="0" err="1"/>
              <a:t>tábla</a:t>
            </a:r>
            <a:r>
              <a:rPr dirty="0"/>
              <a:t>: </a:t>
            </a:r>
            <a:r>
              <a:rPr dirty="0" err="1"/>
              <a:t>AutoId</a:t>
            </a:r>
            <a:r>
              <a:rPr dirty="0"/>
              <a:t>, </a:t>
            </a:r>
            <a:r>
              <a:rPr dirty="0" err="1"/>
              <a:t>Rendszam</a:t>
            </a:r>
            <a:r>
              <a:rPr dirty="0"/>
              <a:t>, Marka, </a:t>
            </a:r>
            <a:r>
              <a:rPr dirty="0" err="1"/>
              <a:t>Tipus</a:t>
            </a:r>
            <a:r>
              <a:rPr dirty="0"/>
              <a:t>, </a:t>
            </a:r>
            <a:r>
              <a:rPr dirty="0" err="1"/>
              <a:t>Evjarat</a:t>
            </a:r>
            <a:r>
              <a:rPr dirty="0"/>
              <a:t>, </a:t>
            </a:r>
            <a:r>
              <a:rPr dirty="0" err="1"/>
              <a:t>NapiAr</a:t>
            </a:r>
            <a:r>
              <a:rPr dirty="0"/>
              <a:t>, </a:t>
            </a:r>
            <a:r>
              <a:rPr dirty="0" err="1"/>
              <a:t>Elerheto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Ugyfelek</a:t>
            </a:r>
            <a:r>
              <a:rPr dirty="0"/>
              <a:t> </a:t>
            </a:r>
            <a:r>
              <a:rPr dirty="0" err="1"/>
              <a:t>tábla</a:t>
            </a:r>
            <a:r>
              <a:rPr dirty="0"/>
              <a:t>: </a:t>
            </a:r>
            <a:r>
              <a:rPr dirty="0" err="1"/>
              <a:t>UgyfelId</a:t>
            </a:r>
            <a:r>
              <a:rPr dirty="0"/>
              <a:t>, Nev, Email, </a:t>
            </a:r>
            <a:r>
              <a:rPr dirty="0" err="1"/>
              <a:t>Telefonszam</a:t>
            </a:r>
            <a:r>
              <a:rPr dirty="0"/>
              <a:t>, </a:t>
            </a:r>
            <a:r>
              <a:rPr dirty="0" err="1"/>
              <a:t>SzemelyiIgazolvanySzam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Kolcsonzesek</a:t>
            </a:r>
            <a:r>
              <a:rPr dirty="0"/>
              <a:t> </a:t>
            </a:r>
            <a:r>
              <a:rPr dirty="0" err="1"/>
              <a:t>tábla</a:t>
            </a:r>
            <a:r>
              <a:rPr dirty="0"/>
              <a:t>: </a:t>
            </a:r>
            <a:r>
              <a:rPr dirty="0" err="1"/>
              <a:t>KolcsonzesId</a:t>
            </a:r>
            <a:r>
              <a:rPr dirty="0"/>
              <a:t>, </a:t>
            </a:r>
            <a:r>
              <a:rPr dirty="0" err="1"/>
              <a:t>AutoId</a:t>
            </a:r>
            <a:r>
              <a:rPr dirty="0"/>
              <a:t>(FK), </a:t>
            </a:r>
            <a:r>
              <a:rPr dirty="0" err="1"/>
              <a:t>UgyfelId</a:t>
            </a:r>
            <a:r>
              <a:rPr dirty="0"/>
              <a:t>(FK), </a:t>
            </a:r>
            <a:r>
              <a:rPr dirty="0" err="1"/>
              <a:t>KezdoDatum</a:t>
            </a:r>
            <a:r>
              <a:rPr dirty="0"/>
              <a:t>, </a:t>
            </a:r>
            <a:r>
              <a:rPr dirty="0" err="1"/>
              <a:t>VegDatum</a:t>
            </a:r>
            <a:r>
              <a:rPr dirty="0"/>
              <a:t>, </a:t>
            </a:r>
            <a:r>
              <a:rPr dirty="0" err="1"/>
              <a:t>Osszeg</a:t>
            </a:r>
            <a:r>
              <a:rPr dirty="0"/>
              <a:t>, </a:t>
            </a:r>
            <a:r>
              <a:rPr dirty="0" err="1"/>
              <a:t>Allapot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 err="1"/>
              <a:t>Kapcsolatok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  </a:t>
            </a:r>
            <a:r>
              <a:rPr dirty="0" err="1"/>
              <a:t>Autok</a:t>
            </a:r>
            <a:r>
              <a:rPr dirty="0"/>
              <a:t> (1) ←→ (N) </a:t>
            </a:r>
            <a:r>
              <a:rPr dirty="0" err="1"/>
              <a:t>Kolcsonzesek</a:t>
            </a:r>
            <a:r>
              <a:rPr dirty="0"/>
              <a:t>: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autóhoz</a:t>
            </a:r>
            <a:r>
              <a:rPr dirty="0"/>
              <a:t> </a:t>
            </a:r>
            <a:r>
              <a:rPr dirty="0" err="1"/>
              <a:t>több</a:t>
            </a:r>
            <a:r>
              <a:rPr dirty="0"/>
              <a:t> </a:t>
            </a:r>
            <a:r>
              <a:rPr dirty="0" err="1"/>
              <a:t>kölcsönzés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  </a:t>
            </a:r>
            <a:r>
              <a:rPr dirty="0" err="1"/>
              <a:t>Ugyfelek</a:t>
            </a:r>
            <a:r>
              <a:rPr dirty="0"/>
              <a:t> (1) ←→ (N) </a:t>
            </a:r>
            <a:r>
              <a:rPr dirty="0" err="1"/>
              <a:t>Kolcsonzesek</a:t>
            </a:r>
            <a:r>
              <a:rPr dirty="0"/>
              <a:t>: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ügyfélhez</a:t>
            </a:r>
            <a:r>
              <a:rPr dirty="0"/>
              <a:t> </a:t>
            </a:r>
            <a:r>
              <a:rPr dirty="0" err="1"/>
              <a:t>több</a:t>
            </a:r>
            <a:r>
              <a:rPr dirty="0"/>
              <a:t> </a:t>
            </a:r>
            <a:r>
              <a:rPr dirty="0" err="1"/>
              <a:t>kölcsönzés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8613" y="1067187"/>
            <a:ext cx="4585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2800" b="1">
                <a:solidFill>
                  <a:srgbClr val="1F497D"/>
                </a:solidFill>
              </a:defRPr>
            </a:pPr>
            <a:r>
              <a:rPr dirty="0" err="1"/>
              <a:t>Adatbázis</a:t>
            </a:r>
            <a:r>
              <a:rPr dirty="0"/>
              <a:t> - ER diagram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BF437FB-B87C-27BD-D0F8-8A5D69A1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16" y="1974909"/>
            <a:ext cx="9285367" cy="38159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83848" y="934077"/>
            <a:ext cx="5112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800" b="1">
                <a:solidFill>
                  <a:srgbClr val="1F497D"/>
                </a:solidFill>
              </a:defRPr>
            </a:pPr>
            <a:r>
              <a:rPr dirty="0" err="1"/>
              <a:t>Adatbázis</a:t>
            </a:r>
            <a:r>
              <a:rPr dirty="0"/>
              <a:t> - </a:t>
            </a:r>
            <a:r>
              <a:rPr dirty="0" err="1"/>
              <a:t>Mintaadatok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6E97332-7404-998C-6038-9A744EE6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07" y="2004708"/>
            <a:ext cx="4124325" cy="2066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7DA790F-7954-36AC-3436-677ADA81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68" y="1978606"/>
            <a:ext cx="4533900" cy="2105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72FE48B-95DA-1257-BA37-0D879587D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924" y="4248751"/>
            <a:ext cx="5210175" cy="1704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alkalmazás felülete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 err="1"/>
              <a:t>Főablak</a:t>
            </a:r>
            <a:r>
              <a:rPr dirty="0"/>
              <a:t> (</a:t>
            </a:r>
            <a:r>
              <a:rPr dirty="0" err="1"/>
              <a:t>MainWindow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9827"/>
            <a:ext cx="3674962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 err="1"/>
              <a:t>Elemek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Menüsor</a:t>
            </a:r>
            <a:r>
              <a:rPr dirty="0"/>
              <a:t>: </a:t>
            </a:r>
            <a:r>
              <a:rPr dirty="0" err="1"/>
              <a:t>Fájl</a:t>
            </a:r>
            <a:r>
              <a:rPr dirty="0"/>
              <a:t> | </a:t>
            </a:r>
            <a:r>
              <a:rPr dirty="0" err="1"/>
              <a:t>Kezelés</a:t>
            </a:r>
            <a:r>
              <a:rPr dirty="0"/>
              <a:t> | </a:t>
            </a:r>
            <a:r>
              <a:rPr dirty="0" err="1"/>
              <a:t>Súgó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Eszköztár</a:t>
            </a:r>
            <a:r>
              <a:rPr dirty="0"/>
              <a:t>: </a:t>
            </a:r>
            <a:r>
              <a:rPr dirty="0" err="1"/>
              <a:t>Autók</a:t>
            </a:r>
            <a:r>
              <a:rPr dirty="0"/>
              <a:t>, </a:t>
            </a:r>
            <a:r>
              <a:rPr dirty="0" err="1"/>
              <a:t>Ügyfelek</a:t>
            </a:r>
            <a:r>
              <a:rPr dirty="0"/>
              <a:t>, </a:t>
            </a:r>
            <a:r>
              <a:rPr dirty="0" err="1"/>
              <a:t>Kölcsönzések</a:t>
            </a:r>
            <a:r>
              <a:rPr dirty="0"/>
              <a:t>, </a:t>
            </a:r>
            <a:r>
              <a:rPr dirty="0" err="1"/>
              <a:t>Kilépés</a:t>
            </a:r>
            <a:r>
              <a:rPr dirty="0"/>
              <a:t> </a:t>
            </a:r>
            <a:r>
              <a:rPr dirty="0" err="1"/>
              <a:t>gombok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Állapotsor</a:t>
            </a:r>
            <a:r>
              <a:rPr dirty="0"/>
              <a:t>: </a:t>
            </a:r>
            <a:r>
              <a:rPr dirty="0" err="1"/>
              <a:t>Aktuális</a:t>
            </a:r>
            <a:r>
              <a:rPr dirty="0"/>
              <a:t> </a:t>
            </a:r>
            <a:r>
              <a:rPr dirty="0" err="1"/>
              <a:t>állapot</a:t>
            </a:r>
            <a:r>
              <a:rPr dirty="0"/>
              <a:t> </a:t>
            </a:r>
            <a:r>
              <a:rPr dirty="0" err="1"/>
              <a:t>megjelenítése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Központi</a:t>
            </a:r>
            <a:r>
              <a:rPr dirty="0"/>
              <a:t> </a:t>
            </a:r>
            <a:r>
              <a:rPr dirty="0" err="1"/>
              <a:t>üdvözlő</a:t>
            </a:r>
            <a:r>
              <a:rPr dirty="0"/>
              <a:t> </a:t>
            </a:r>
            <a:r>
              <a:rPr dirty="0" err="1"/>
              <a:t>képernyő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BA58FDC-1BB4-658C-D5DD-712FF7EE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397" y="1636660"/>
            <a:ext cx="7227003" cy="47999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Autók kezelése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278472"/>
            <a:ext cx="3046071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 err="1"/>
              <a:t>Funkciók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DataGrid: Az </a:t>
            </a:r>
            <a:r>
              <a:rPr dirty="0" err="1"/>
              <a:t>összes</a:t>
            </a:r>
            <a:r>
              <a:rPr dirty="0"/>
              <a:t> </a:t>
            </a:r>
            <a:r>
              <a:rPr dirty="0" err="1"/>
              <a:t>autó</a:t>
            </a:r>
            <a:r>
              <a:rPr dirty="0"/>
              <a:t> </a:t>
            </a:r>
            <a:r>
              <a:rPr dirty="0" err="1"/>
              <a:t>listázása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Keresősáv</a:t>
            </a:r>
            <a:r>
              <a:rPr dirty="0"/>
              <a:t>: </a:t>
            </a:r>
            <a:r>
              <a:rPr dirty="0" err="1"/>
              <a:t>Rendszám</a:t>
            </a:r>
            <a:r>
              <a:rPr dirty="0"/>
              <a:t>, </a:t>
            </a:r>
            <a:r>
              <a:rPr dirty="0" err="1"/>
              <a:t>Márka</a:t>
            </a:r>
            <a:r>
              <a:rPr dirty="0"/>
              <a:t> </a:t>
            </a:r>
            <a:r>
              <a:rPr dirty="0" err="1"/>
              <a:t>vagy</a:t>
            </a:r>
            <a:r>
              <a:rPr dirty="0"/>
              <a:t> </a:t>
            </a:r>
            <a:r>
              <a:rPr dirty="0" err="1"/>
              <a:t>Típus</a:t>
            </a:r>
            <a:r>
              <a:rPr dirty="0"/>
              <a:t> </a:t>
            </a:r>
            <a:r>
              <a:rPr dirty="0" err="1"/>
              <a:t>alapján</a:t>
            </a:r>
            <a:r>
              <a:rPr dirty="0"/>
              <a:t> </a:t>
            </a:r>
            <a:r>
              <a:rPr dirty="0" err="1"/>
              <a:t>keresés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Űrlap</a:t>
            </a:r>
            <a:r>
              <a:rPr dirty="0"/>
              <a:t>: </a:t>
            </a:r>
            <a:r>
              <a:rPr dirty="0" err="1"/>
              <a:t>Rendszám</a:t>
            </a:r>
            <a:r>
              <a:rPr dirty="0"/>
              <a:t>, </a:t>
            </a:r>
            <a:r>
              <a:rPr dirty="0" err="1"/>
              <a:t>Márka</a:t>
            </a:r>
            <a:r>
              <a:rPr dirty="0"/>
              <a:t>, </a:t>
            </a:r>
            <a:r>
              <a:rPr dirty="0" err="1"/>
              <a:t>Típus</a:t>
            </a:r>
            <a:r>
              <a:rPr dirty="0"/>
              <a:t>, </a:t>
            </a:r>
            <a:r>
              <a:rPr dirty="0" err="1"/>
              <a:t>Évjárat</a:t>
            </a:r>
            <a:r>
              <a:rPr dirty="0"/>
              <a:t>, </a:t>
            </a:r>
            <a:r>
              <a:rPr dirty="0" err="1"/>
              <a:t>Napi</a:t>
            </a:r>
            <a:r>
              <a:rPr dirty="0"/>
              <a:t> </a:t>
            </a:r>
            <a:r>
              <a:rPr dirty="0" err="1"/>
              <a:t>ár</a:t>
            </a:r>
            <a:r>
              <a:rPr dirty="0"/>
              <a:t>, </a:t>
            </a:r>
            <a:r>
              <a:rPr dirty="0" err="1"/>
              <a:t>Elérhető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Gombok</a:t>
            </a:r>
            <a:r>
              <a:rPr dirty="0"/>
              <a:t>: </a:t>
            </a:r>
            <a:r>
              <a:rPr dirty="0" err="1"/>
              <a:t>Új</a:t>
            </a:r>
            <a:r>
              <a:rPr dirty="0"/>
              <a:t> </a:t>
            </a:r>
            <a:r>
              <a:rPr dirty="0" err="1"/>
              <a:t>hozzáadása</a:t>
            </a:r>
            <a:r>
              <a:rPr dirty="0"/>
              <a:t>, </a:t>
            </a:r>
            <a:r>
              <a:rPr dirty="0" err="1"/>
              <a:t>Módosítás</a:t>
            </a:r>
            <a:r>
              <a:rPr dirty="0"/>
              <a:t>, </a:t>
            </a:r>
            <a:r>
              <a:rPr dirty="0" err="1"/>
              <a:t>Törlés</a:t>
            </a:r>
            <a:r>
              <a:rPr dirty="0"/>
              <a:t>, </a:t>
            </a:r>
            <a:r>
              <a:rPr dirty="0" err="1"/>
              <a:t>Mezők</a:t>
            </a:r>
            <a:r>
              <a:rPr dirty="0"/>
              <a:t> </a:t>
            </a:r>
            <a:r>
              <a:rPr dirty="0" err="1"/>
              <a:t>törlése</a:t>
            </a:r>
            <a:endParaRPr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8DE63D0-CFA6-D7F3-4021-18D12D44C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071" y="1072593"/>
            <a:ext cx="7715250" cy="5438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Ügyfelek kezelése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199" y="1762534"/>
            <a:ext cx="332422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 err="1"/>
              <a:t>Mezők</a:t>
            </a:r>
            <a:r>
              <a:rPr dirty="0"/>
              <a:t>:</a:t>
            </a:r>
            <a:endParaRPr lang="hu-HU" dirty="0"/>
          </a:p>
          <a:p>
            <a:pPr>
              <a:spcAft>
                <a:spcPts val="400"/>
              </a:spcAft>
              <a:defRPr sz="1600"/>
            </a:pPr>
            <a:r>
              <a:rPr dirty="0" err="1"/>
              <a:t>Név</a:t>
            </a:r>
            <a:r>
              <a:rPr dirty="0"/>
              <a:t>, E-mail, </a:t>
            </a:r>
            <a:r>
              <a:rPr dirty="0" err="1"/>
              <a:t>Telefonszám</a:t>
            </a:r>
            <a:r>
              <a:rPr dirty="0"/>
              <a:t>, </a:t>
            </a:r>
            <a:r>
              <a:rPr dirty="0" err="1"/>
              <a:t>Személyi</a:t>
            </a:r>
            <a:r>
              <a:rPr dirty="0"/>
              <a:t> </a:t>
            </a:r>
            <a:r>
              <a:rPr dirty="0" err="1"/>
              <a:t>igazolvány</a:t>
            </a:r>
            <a:r>
              <a:rPr dirty="0"/>
              <a:t> </a:t>
            </a:r>
            <a:r>
              <a:rPr dirty="0" err="1"/>
              <a:t>szám</a:t>
            </a:r>
            <a:endParaRPr lang="hu-HU" dirty="0"/>
          </a:p>
          <a:p>
            <a:pPr>
              <a:spcAft>
                <a:spcPts val="400"/>
              </a:spcAft>
              <a:defRPr sz="1600"/>
            </a:pP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 err="1"/>
              <a:t>Keresés</a:t>
            </a:r>
            <a:r>
              <a:rPr dirty="0"/>
              <a:t>:</a:t>
            </a:r>
            <a:endParaRPr lang="hu-HU" dirty="0"/>
          </a:p>
          <a:p>
            <a:pPr>
              <a:spcAft>
                <a:spcPts val="400"/>
              </a:spcAft>
              <a:defRPr sz="1600"/>
            </a:pPr>
            <a:r>
              <a:rPr dirty="0" err="1"/>
              <a:t>Név</a:t>
            </a:r>
            <a:r>
              <a:rPr dirty="0"/>
              <a:t>, E-mail, </a:t>
            </a:r>
            <a:r>
              <a:rPr dirty="0" err="1"/>
              <a:t>Telefonszám</a:t>
            </a:r>
            <a:r>
              <a:rPr dirty="0"/>
              <a:t>, </a:t>
            </a:r>
            <a:r>
              <a:rPr dirty="0" err="1"/>
              <a:t>Személyi</a:t>
            </a:r>
            <a:r>
              <a:rPr dirty="0"/>
              <a:t> </a:t>
            </a:r>
            <a:r>
              <a:rPr dirty="0" err="1"/>
              <a:t>ig</a:t>
            </a:r>
            <a:r>
              <a:rPr dirty="0"/>
              <a:t>. </a:t>
            </a:r>
            <a:r>
              <a:rPr dirty="0" err="1"/>
              <a:t>szám</a:t>
            </a:r>
            <a:r>
              <a:rPr dirty="0"/>
              <a:t> </a:t>
            </a:r>
            <a:r>
              <a:rPr dirty="0" err="1"/>
              <a:t>alapján</a:t>
            </a:r>
            <a:endParaRPr lang="hu-HU" dirty="0"/>
          </a:p>
          <a:p>
            <a:pPr>
              <a:spcAft>
                <a:spcPts val="400"/>
              </a:spcAft>
              <a:defRPr sz="1600"/>
            </a:pP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E-mail </a:t>
            </a:r>
            <a:r>
              <a:rPr dirty="0" err="1"/>
              <a:t>validáció</a:t>
            </a:r>
            <a:r>
              <a:rPr dirty="0"/>
              <a:t> </a:t>
            </a:r>
            <a:r>
              <a:rPr dirty="0" err="1"/>
              <a:t>reguláris</a:t>
            </a:r>
            <a:r>
              <a:rPr dirty="0"/>
              <a:t> </a:t>
            </a:r>
            <a:r>
              <a:rPr dirty="0" err="1"/>
              <a:t>kifejezéssel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6EC9FE8-4512-4A23-0D58-81C61BB81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200150"/>
            <a:ext cx="7953375" cy="5200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Kölcsönzések kezelése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65813"/>
            <a:ext cx="2809875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 err="1"/>
              <a:t>Speciális</a:t>
            </a:r>
            <a:r>
              <a:rPr dirty="0"/>
              <a:t> </a:t>
            </a:r>
            <a:r>
              <a:rPr dirty="0" err="1"/>
              <a:t>elemek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ComboBox</a:t>
            </a:r>
            <a:r>
              <a:rPr dirty="0"/>
              <a:t>-ok: </a:t>
            </a:r>
            <a:r>
              <a:rPr dirty="0" err="1"/>
              <a:t>Autó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ügyfél</a:t>
            </a:r>
            <a:r>
              <a:rPr dirty="0"/>
              <a:t> </a:t>
            </a:r>
            <a:r>
              <a:rPr dirty="0" err="1"/>
              <a:t>kiválasztása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DatePicker</a:t>
            </a:r>
            <a:r>
              <a:rPr dirty="0"/>
              <a:t>-ek: </a:t>
            </a:r>
            <a:r>
              <a:rPr dirty="0" err="1"/>
              <a:t>Kezdő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vég</a:t>
            </a:r>
            <a:r>
              <a:rPr dirty="0"/>
              <a:t> </a:t>
            </a:r>
            <a:r>
              <a:rPr dirty="0" err="1"/>
              <a:t>dátum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összegszámítás</a:t>
            </a:r>
            <a:r>
              <a:rPr dirty="0"/>
              <a:t>: </a:t>
            </a:r>
            <a:r>
              <a:rPr dirty="0" err="1"/>
              <a:t>napok</a:t>
            </a:r>
            <a:r>
              <a:rPr dirty="0"/>
              <a:t> × </a:t>
            </a:r>
            <a:r>
              <a:rPr dirty="0" err="1"/>
              <a:t>napi</a:t>
            </a:r>
            <a:r>
              <a:rPr dirty="0"/>
              <a:t> </a:t>
            </a:r>
            <a:r>
              <a:rPr dirty="0" err="1"/>
              <a:t>ár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Állapot</a:t>
            </a:r>
            <a:r>
              <a:rPr dirty="0"/>
              <a:t>: </a:t>
            </a:r>
            <a:r>
              <a:rPr dirty="0" err="1"/>
              <a:t>Aktív</a:t>
            </a:r>
            <a:r>
              <a:rPr dirty="0"/>
              <a:t> / </a:t>
            </a:r>
            <a:r>
              <a:rPr dirty="0" err="1"/>
              <a:t>Lezárt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JOIN </a:t>
            </a:r>
            <a:r>
              <a:rPr dirty="0" err="1"/>
              <a:t>lekérdezés</a:t>
            </a:r>
            <a:r>
              <a:rPr dirty="0"/>
              <a:t>: </a:t>
            </a:r>
            <a:r>
              <a:rPr dirty="0" err="1"/>
              <a:t>autó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ügyfél</a:t>
            </a:r>
            <a:r>
              <a:rPr dirty="0"/>
              <a:t> neve is </a:t>
            </a:r>
            <a:r>
              <a:rPr dirty="0" err="1"/>
              <a:t>megjelenik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DA39661-021D-38D2-B1F8-D115D38B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75" y="1177543"/>
            <a:ext cx="8467725" cy="5324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Keresés és szűrés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59771" y="685036"/>
            <a:ext cx="9567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 err="1"/>
              <a:t>Keresés</a:t>
            </a:r>
            <a:r>
              <a:rPr dirty="0"/>
              <a:t> </a:t>
            </a:r>
            <a:r>
              <a:rPr dirty="0" err="1"/>
              <a:t>funkció</a:t>
            </a:r>
            <a:r>
              <a:rPr dirty="0"/>
              <a:t> </a:t>
            </a:r>
            <a:r>
              <a:rPr dirty="0" err="1"/>
              <a:t>bemutatása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59771" y="1388962"/>
            <a:ext cx="95676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/>
              <a:t>Minden </a:t>
            </a:r>
            <a:r>
              <a:rPr dirty="0" err="1"/>
              <a:t>ablakban</a:t>
            </a:r>
            <a:r>
              <a:rPr dirty="0"/>
              <a:t> </a:t>
            </a:r>
            <a:r>
              <a:rPr dirty="0" err="1"/>
              <a:t>elérhető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1. Mező </a:t>
            </a:r>
            <a:r>
              <a:rPr dirty="0" err="1"/>
              <a:t>kiválasztása</a:t>
            </a:r>
            <a:r>
              <a:rPr dirty="0"/>
              <a:t> (</a:t>
            </a:r>
            <a:r>
              <a:rPr dirty="0" err="1"/>
              <a:t>ComboBox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2. </a:t>
            </a:r>
            <a:r>
              <a:rPr dirty="0" err="1"/>
              <a:t>Keresőszöveg</a:t>
            </a:r>
            <a:r>
              <a:rPr dirty="0"/>
              <a:t> </a:t>
            </a:r>
            <a:r>
              <a:rPr dirty="0" err="1"/>
              <a:t>beírása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3. "</a:t>
            </a:r>
            <a:r>
              <a:rPr dirty="0" err="1"/>
              <a:t>Keresés</a:t>
            </a:r>
            <a:r>
              <a:rPr dirty="0"/>
              <a:t>" </a:t>
            </a:r>
            <a:r>
              <a:rPr dirty="0" err="1"/>
              <a:t>gomb</a:t>
            </a:r>
            <a:r>
              <a:rPr dirty="0"/>
              <a:t>: LIKE </a:t>
            </a:r>
            <a:r>
              <a:rPr dirty="0" err="1"/>
              <a:t>operátorral</a:t>
            </a:r>
            <a:r>
              <a:rPr dirty="0"/>
              <a:t> </a:t>
            </a:r>
            <a:r>
              <a:rPr dirty="0" err="1"/>
              <a:t>szűr</a:t>
            </a:r>
            <a:r>
              <a:rPr dirty="0"/>
              <a:t> (</a:t>
            </a:r>
            <a:r>
              <a:rPr dirty="0" err="1"/>
              <a:t>részleges</a:t>
            </a:r>
            <a:r>
              <a:rPr dirty="0"/>
              <a:t> </a:t>
            </a:r>
            <a:r>
              <a:rPr dirty="0" err="1"/>
              <a:t>egyezés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4. "</a:t>
            </a:r>
            <a:r>
              <a:rPr dirty="0" err="1"/>
              <a:t>Összes</a:t>
            </a:r>
            <a:r>
              <a:rPr dirty="0"/>
              <a:t> </a:t>
            </a:r>
            <a:r>
              <a:rPr dirty="0" err="1"/>
              <a:t>mutatása</a:t>
            </a:r>
            <a:r>
              <a:rPr dirty="0"/>
              <a:t>" </a:t>
            </a:r>
            <a:r>
              <a:rPr dirty="0" err="1"/>
              <a:t>gomb</a:t>
            </a:r>
            <a:r>
              <a:rPr dirty="0"/>
              <a:t>: </a:t>
            </a:r>
            <a:r>
              <a:rPr dirty="0" err="1"/>
              <a:t>visszaállítja</a:t>
            </a:r>
            <a:r>
              <a:rPr dirty="0"/>
              <a:t> a </a:t>
            </a:r>
            <a:r>
              <a:rPr dirty="0" err="1"/>
              <a:t>teljes</a:t>
            </a:r>
            <a:r>
              <a:rPr dirty="0"/>
              <a:t> </a:t>
            </a:r>
            <a:r>
              <a:rPr dirty="0" err="1"/>
              <a:t>listát</a:t>
            </a:r>
            <a:endParaRPr dirty="0"/>
          </a:p>
          <a:p>
            <a:pPr>
              <a:spcAft>
                <a:spcPts val="400"/>
              </a:spcAft>
              <a:defRPr sz="1600"/>
            </a:pP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 err="1"/>
              <a:t>Példa</a:t>
            </a:r>
            <a:r>
              <a:rPr dirty="0"/>
              <a:t>: </a:t>
            </a:r>
            <a:r>
              <a:rPr dirty="0" err="1"/>
              <a:t>Márka</a:t>
            </a:r>
            <a:r>
              <a:rPr dirty="0"/>
              <a:t> = "Toyota" → </a:t>
            </a:r>
            <a:r>
              <a:rPr dirty="0" err="1"/>
              <a:t>csak</a:t>
            </a:r>
            <a:r>
              <a:rPr dirty="0"/>
              <a:t> a Toyota </a:t>
            </a:r>
            <a:r>
              <a:rPr dirty="0" err="1"/>
              <a:t>autókat</a:t>
            </a:r>
            <a:r>
              <a:rPr dirty="0"/>
              <a:t> </a:t>
            </a:r>
            <a:r>
              <a:rPr dirty="0" err="1"/>
              <a:t>mutatja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02E3DD8-B7DF-0694-82CF-0A48BF22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71" y="3678138"/>
            <a:ext cx="9567658" cy="2494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 err="1"/>
              <a:t>Adatvalidáció</a:t>
            </a:r>
            <a:r>
              <a:rPr dirty="0"/>
              <a:t> </a:t>
            </a:r>
            <a:r>
              <a:rPr dirty="0" err="1"/>
              <a:t>bemutatása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 err="1"/>
              <a:t>Validációs</a:t>
            </a:r>
            <a:r>
              <a:rPr dirty="0"/>
              <a:t> </a:t>
            </a:r>
            <a:r>
              <a:rPr dirty="0" err="1"/>
              <a:t>szabályok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Kötelező</a:t>
            </a:r>
            <a:r>
              <a:rPr dirty="0"/>
              <a:t> </a:t>
            </a:r>
            <a:r>
              <a:rPr dirty="0" err="1"/>
              <a:t>mezők</a:t>
            </a:r>
            <a:r>
              <a:rPr dirty="0"/>
              <a:t>: </a:t>
            </a:r>
            <a:r>
              <a:rPr dirty="0" err="1"/>
              <a:t>üres</a:t>
            </a:r>
            <a:r>
              <a:rPr dirty="0"/>
              <a:t> </a:t>
            </a:r>
            <a:r>
              <a:rPr dirty="0" err="1"/>
              <a:t>mező</a:t>
            </a:r>
            <a:r>
              <a:rPr dirty="0"/>
              <a:t> </a:t>
            </a:r>
            <a:r>
              <a:rPr dirty="0" err="1"/>
              <a:t>esetén</a:t>
            </a:r>
            <a:r>
              <a:rPr dirty="0"/>
              <a:t> </a:t>
            </a:r>
            <a:r>
              <a:rPr dirty="0" err="1"/>
              <a:t>figyelmeztető</a:t>
            </a:r>
            <a:r>
              <a:rPr dirty="0"/>
              <a:t> </a:t>
            </a:r>
            <a:r>
              <a:rPr dirty="0" err="1"/>
              <a:t>üzenet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Évjárat</a:t>
            </a:r>
            <a:r>
              <a:rPr dirty="0"/>
              <a:t>: 1950 - </a:t>
            </a:r>
            <a:r>
              <a:rPr dirty="0" err="1"/>
              <a:t>aktuális</a:t>
            </a:r>
            <a:r>
              <a:rPr dirty="0"/>
              <a:t> </a:t>
            </a:r>
            <a:r>
              <a:rPr dirty="0" err="1"/>
              <a:t>év</a:t>
            </a:r>
            <a:r>
              <a:rPr dirty="0"/>
              <a:t> + 1 </a:t>
            </a:r>
            <a:r>
              <a:rPr dirty="0" err="1"/>
              <a:t>tartomány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Napi</a:t>
            </a:r>
            <a:r>
              <a:rPr dirty="0"/>
              <a:t> </a:t>
            </a:r>
            <a:r>
              <a:rPr dirty="0" err="1"/>
              <a:t>ár</a:t>
            </a:r>
            <a:r>
              <a:rPr dirty="0"/>
              <a:t> / </a:t>
            </a:r>
            <a:r>
              <a:rPr dirty="0" err="1"/>
              <a:t>Összeg</a:t>
            </a:r>
            <a:r>
              <a:rPr dirty="0"/>
              <a:t>: </a:t>
            </a:r>
            <a:r>
              <a:rPr dirty="0" err="1"/>
              <a:t>pozitív</a:t>
            </a:r>
            <a:r>
              <a:rPr dirty="0"/>
              <a:t> </a:t>
            </a:r>
            <a:r>
              <a:rPr dirty="0" err="1"/>
              <a:t>egész</a:t>
            </a:r>
            <a:r>
              <a:rPr dirty="0"/>
              <a:t> </a:t>
            </a:r>
            <a:r>
              <a:rPr dirty="0" err="1"/>
              <a:t>szám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E-mail </a:t>
            </a:r>
            <a:r>
              <a:rPr dirty="0" err="1"/>
              <a:t>formátum</a:t>
            </a:r>
            <a:r>
              <a:rPr dirty="0"/>
              <a:t>: regex </a:t>
            </a:r>
            <a:r>
              <a:rPr dirty="0" err="1"/>
              <a:t>ellenőrzés</a:t>
            </a:r>
            <a:r>
              <a:rPr dirty="0"/>
              <a:t> (</a:t>
            </a:r>
            <a:r>
              <a:rPr dirty="0" err="1"/>
              <a:t>x@x.x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Dátumok</a:t>
            </a:r>
            <a:r>
              <a:rPr dirty="0"/>
              <a:t>: </a:t>
            </a:r>
            <a:r>
              <a:rPr dirty="0" err="1"/>
              <a:t>vég</a:t>
            </a:r>
            <a:r>
              <a:rPr dirty="0"/>
              <a:t> </a:t>
            </a:r>
            <a:r>
              <a:rPr dirty="0" err="1"/>
              <a:t>dátum</a:t>
            </a:r>
            <a:r>
              <a:rPr dirty="0"/>
              <a:t> &gt; </a:t>
            </a:r>
            <a:r>
              <a:rPr dirty="0" err="1"/>
              <a:t>kezdő</a:t>
            </a:r>
            <a:r>
              <a:rPr dirty="0"/>
              <a:t> </a:t>
            </a:r>
            <a:r>
              <a:rPr dirty="0" err="1"/>
              <a:t>dátum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Fókusz</a:t>
            </a:r>
            <a:r>
              <a:rPr dirty="0"/>
              <a:t> </a:t>
            </a:r>
            <a:r>
              <a:rPr dirty="0" err="1"/>
              <a:t>automatikusan</a:t>
            </a:r>
            <a:r>
              <a:rPr dirty="0"/>
              <a:t> a </a:t>
            </a:r>
            <a:r>
              <a:rPr dirty="0" err="1"/>
              <a:t>hibás</a:t>
            </a:r>
            <a:r>
              <a:rPr dirty="0"/>
              <a:t> </a:t>
            </a:r>
            <a:r>
              <a:rPr dirty="0" err="1"/>
              <a:t>mezőre</a:t>
            </a:r>
            <a:r>
              <a:rPr dirty="0"/>
              <a:t> </a:t>
            </a:r>
            <a:r>
              <a:rPr dirty="0" err="1"/>
              <a:t>ugrik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B933F25-6898-4886-4F37-A95621363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28" y="1631399"/>
            <a:ext cx="3042997" cy="1797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3F5E6C7-AAF2-0073-D51B-0745B5A7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977" y="3755057"/>
            <a:ext cx="3573341" cy="2123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WPF tervezés és kódrészletek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/>
              <a:t>XAML </a:t>
            </a:r>
            <a:r>
              <a:rPr dirty="0" err="1"/>
              <a:t>felülettervezés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045352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dirty="0"/>
              <a:t>WPF </a:t>
            </a:r>
            <a:r>
              <a:rPr dirty="0" err="1"/>
              <a:t>vezérlőelemek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DockPanel</a:t>
            </a:r>
            <a:r>
              <a:rPr dirty="0"/>
              <a:t>: </a:t>
            </a:r>
            <a:r>
              <a:rPr dirty="0" err="1"/>
              <a:t>Főablak</a:t>
            </a:r>
            <a:r>
              <a:rPr dirty="0"/>
              <a:t> </a:t>
            </a:r>
            <a:r>
              <a:rPr dirty="0" err="1"/>
              <a:t>elrendezése</a:t>
            </a:r>
            <a:r>
              <a:rPr dirty="0"/>
              <a:t> (</a:t>
            </a:r>
            <a:r>
              <a:rPr dirty="0" err="1"/>
              <a:t>menü</a:t>
            </a:r>
            <a:r>
              <a:rPr dirty="0"/>
              <a:t> </a:t>
            </a:r>
            <a:r>
              <a:rPr dirty="0" err="1"/>
              <a:t>felül</a:t>
            </a:r>
            <a:r>
              <a:rPr dirty="0"/>
              <a:t>, </a:t>
            </a:r>
            <a:r>
              <a:rPr dirty="0" err="1"/>
              <a:t>állapotsor</a:t>
            </a:r>
            <a:r>
              <a:rPr dirty="0"/>
              <a:t> </a:t>
            </a:r>
            <a:r>
              <a:rPr dirty="0" err="1"/>
              <a:t>alul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Grid: </a:t>
            </a:r>
            <a:r>
              <a:rPr dirty="0" err="1"/>
              <a:t>Rugalmas</a:t>
            </a:r>
            <a:r>
              <a:rPr dirty="0"/>
              <a:t> </a:t>
            </a:r>
            <a:r>
              <a:rPr dirty="0" err="1"/>
              <a:t>rácsalapú</a:t>
            </a:r>
            <a:r>
              <a:rPr dirty="0"/>
              <a:t> </a:t>
            </a:r>
            <a:r>
              <a:rPr dirty="0" err="1"/>
              <a:t>elrendezés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DataGrid: </a:t>
            </a:r>
            <a:r>
              <a:rPr dirty="0" err="1"/>
              <a:t>Adatok</a:t>
            </a:r>
            <a:r>
              <a:rPr dirty="0"/>
              <a:t> </a:t>
            </a:r>
            <a:r>
              <a:rPr dirty="0" err="1"/>
              <a:t>táblázatos</a:t>
            </a:r>
            <a:r>
              <a:rPr dirty="0"/>
              <a:t> </a:t>
            </a:r>
            <a:r>
              <a:rPr dirty="0" err="1"/>
              <a:t>megjelenítése</a:t>
            </a: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• </a:t>
            </a:r>
            <a:r>
              <a:rPr dirty="0" err="1"/>
              <a:t>GroupBox</a:t>
            </a:r>
            <a:r>
              <a:rPr dirty="0"/>
              <a:t>: </a:t>
            </a:r>
            <a:r>
              <a:rPr dirty="0" err="1"/>
              <a:t>Logikai</a:t>
            </a:r>
            <a:r>
              <a:rPr dirty="0"/>
              <a:t> </a:t>
            </a:r>
            <a:r>
              <a:rPr dirty="0" err="1"/>
              <a:t>csoportosítás</a:t>
            </a:r>
            <a:r>
              <a:rPr dirty="0"/>
              <a:t> (</a:t>
            </a:r>
            <a:r>
              <a:rPr dirty="0" err="1"/>
              <a:t>Keresés</a:t>
            </a:r>
            <a:r>
              <a:rPr dirty="0"/>
              <a:t>, </a:t>
            </a:r>
            <a:r>
              <a:rPr dirty="0" err="1"/>
              <a:t>Adatok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Data Binding: {Binding </a:t>
            </a:r>
            <a:r>
              <a:rPr dirty="0" err="1"/>
              <a:t>PropertyName</a:t>
            </a:r>
            <a:r>
              <a:rPr dirty="0"/>
              <a:t>} </a:t>
            </a:r>
            <a:r>
              <a:rPr dirty="0" err="1"/>
              <a:t>szintaxis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B46DD3-47A8-7C81-A121-7F5CD366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5" y="376237"/>
            <a:ext cx="6981825" cy="6105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625033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 err="1"/>
              <a:t>Kódrészlet</a:t>
            </a:r>
            <a:r>
              <a:rPr dirty="0"/>
              <a:t>: </a:t>
            </a:r>
            <a:r>
              <a:rPr dirty="0" err="1"/>
              <a:t>Adatbázis</a:t>
            </a:r>
            <a:r>
              <a:rPr dirty="0"/>
              <a:t> CRUD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5D0F07D-5851-4B9E-AE0E-A23DDCFA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56" y="1603817"/>
            <a:ext cx="6143625" cy="4629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E9E341E-451D-B7B6-9C5A-88DC0C09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489" y="3178154"/>
            <a:ext cx="6915150" cy="2886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33017" y="609986"/>
            <a:ext cx="9525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rPr dirty="0" err="1"/>
              <a:t>Kódrészlet</a:t>
            </a:r>
            <a:r>
              <a:rPr dirty="0"/>
              <a:t>: </a:t>
            </a:r>
            <a:r>
              <a:rPr dirty="0" err="1"/>
              <a:t>Adatvalidáció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927B214-49DE-167D-5F94-2D4B117C5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987" y="1524386"/>
            <a:ext cx="5876925" cy="4314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29529"/>
            <a:ext cx="10364451" cy="1425651"/>
          </a:xfrm>
        </p:spPr>
        <p:txBody>
          <a:bodyPr/>
          <a:lstStyle/>
          <a:p>
            <a:r>
              <a:rPr dirty="0" err="1"/>
              <a:t>Összefoglalás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4" y="1661038"/>
            <a:ext cx="10364452" cy="4126304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600" dirty="0"/>
              <a:t>WPF </a:t>
            </a:r>
            <a:r>
              <a:rPr sz="1600" dirty="0" err="1"/>
              <a:t>alkalmazás</a:t>
            </a:r>
            <a:r>
              <a:rPr sz="1600" dirty="0"/>
              <a:t> .NET 8 </a:t>
            </a:r>
            <a:r>
              <a:rPr sz="1600" dirty="0" err="1"/>
              <a:t>keretrendszerrel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3 </a:t>
            </a:r>
            <a:r>
              <a:rPr sz="1600" dirty="0" err="1"/>
              <a:t>kapcsolódó</a:t>
            </a:r>
            <a:r>
              <a:rPr sz="1600" dirty="0"/>
              <a:t> </a:t>
            </a:r>
            <a:r>
              <a:rPr sz="1600" dirty="0" err="1"/>
              <a:t>entitás</a:t>
            </a:r>
            <a:r>
              <a:rPr sz="1600" dirty="0"/>
              <a:t> MS SQL Server Express </a:t>
            </a:r>
            <a:r>
              <a:rPr sz="1600" dirty="0" err="1"/>
              <a:t>adatbázisban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 err="1"/>
              <a:t>Teljes</a:t>
            </a:r>
            <a:r>
              <a:rPr sz="1600" dirty="0"/>
              <a:t> CRUD </a:t>
            </a:r>
            <a:r>
              <a:rPr sz="1600" dirty="0" err="1"/>
              <a:t>funkcionalitás</a:t>
            </a:r>
            <a:r>
              <a:rPr sz="1600" dirty="0"/>
              <a:t> </a:t>
            </a:r>
            <a:r>
              <a:rPr sz="1600" dirty="0" err="1"/>
              <a:t>mindhárom</a:t>
            </a:r>
            <a:r>
              <a:rPr sz="1600" dirty="0"/>
              <a:t> </a:t>
            </a:r>
            <a:r>
              <a:rPr sz="1600" dirty="0" err="1"/>
              <a:t>entitásra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 err="1"/>
              <a:t>Ellenőrzött</a:t>
            </a:r>
            <a:r>
              <a:rPr sz="1600" dirty="0"/>
              <a:t> </a:t>
            </a:r>
            <a:r>
              <a:rPr sz="1600" dirty="0" err="1"/>
              <a:t>adatbevitel</a:t>
            </a:r>
            <a:r>
              <a:rPr sz="1600" dirty="0"/>
              <a:t> (</a:t>
            </a:r>
            <a:r>
              <a:rPr sz="1600" dirty="0" err="1"/>
              <a:t>validáció</a:t>
            </a:r>
            <a:r>
              <a:rPr sz="1600"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sz="1600" dirty="0" err="1"/>
              <a:t>Keresés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szűrés</a:t>
            </a:r>
            <a:r>
              <a:rPr sz="1600" dirty="0"/>
              <a:t> </a:t>
            </a:r>
            <a:r>
              <a:rPr sz="1600" dirty="0" err="1"/>
              <a:t>funkció</a:t>
            </a:r>
            <a:r>
              <a:rPr sz="1600" dirty="0"/>
              <a:t> </a:t>
            </a:r>
            <a:r>
              <a:rPr sz="1600" dirty="0" err="1"/>
              <a:t>minden</a:t>
            </a:r>
            <a:r>
              <a:rPr sz="1600" dirty="0"/>
              <a:t> </a:t>
            </a:r>
            <a:r>
              <a:rPr sz="1600" dirty="0" err="1"/>
              <a:t>ablakban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 err="1"/>
              <a:t>Automatikus</a:t>
            </a:r>
            <a:r>
              <a:rPr sz="1600" dirty="0"/>
              <a:t> </a:t>
            </a:r>
            <a:r>
              <a:rPr sz="1600" dirty="0" err="1"/>
              <a:t>összegszámítás</a:t>
            </a:r>
            <a:r>
              <a:rPr sz="1600" dirty="0"/>
              <a:t> a </a:t>
            </a:r>
            <a:r>
              <a:rPr sz="1600" dirty="0" err="1"/>
              <a:t>kölcsönzéseknél</a:t>
            </a:r>
            <a:endParaRPr sz="1600" dirty="0"/>
          </a:p>
          <a:p>
            <a:pPr>
              <a:spcAft>
                <a:spcPts val="800"/>
              </a:spcAft>
              <a:defRPr sz="1800"/>
            </a:pPr>
            <a:r>
              <a:rPr sz="1600" dirty="0" err="1"/>
              <a:t>Paraméterezett</a:t>
            </a:r>
            <a:r>
              <a:rPr sz="1600" dirty="0"/>
              <a:t> SQL </a:t>
            </a:r>
            <a:r>
              <a:rPr sz="1600" dirty="0" err="1"/>
              <a:t>lekérdezések</a:t>
            </a:r>
            <a:r>
              <a:rPr sz="1600" dirty="0"/>
              <a:t> (</a:t>
            </a:r>
            <a:r>
              <a:rPr sz="1600" dirty="0" err="1"/>
              <a:t>biztonság</a:t>
            </a:r>
            <a:r>
              <a:rPr sz="1600"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sz="1600" dirty="0"/>
              <a:t>Magyar </a:t>
            </a:r>
            <a:r>
              <a:rPr sz="1600" dirty="0" err="1"/>
              <a:t>nyelvű</a:t>
            </a:r>
            <a:r>
              <a:rPr sz="1600" dirty="0"/>
              <a:t> </a:t>
            </a:r>
            <a:r>
              <a:rPr sz="1600" dirty="0" err="1"/>
              <a:t>felület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forráskód</a:t>
            </a:r>
            <a:endParaRPr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Köszönjük a figyelmet!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Kérdések?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ppecske">
  <a:themeElements>
    <a:clrScheme name="Cseppecske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Cseppecske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seppecske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TM04033925[[fn=Cseppecske]]</Template>
  <TotalTime>53</TotalTime>
  <Words>623</Words>
  <Application>Microsoft Office PowerPoint</Application>
  <PresentationFormat>Szélesvásznú</PresentationFormat>
  <Paragraphs>100</Paragraphs>
  <Slides>24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7" baseType="lpstr">
      <vt:lpstr>Arial</vt:lpstr>
      <vt:lpstr>Tw Cen MT</vt:lpstr>
      <vt:lpstr>Cseppecske</vt:lpstr>
      <vt:lpstr>Autókölcsönző Rendszer</vt:lpstr>
      <vt:lpstr>A bemutató tartalma</vt:lpstr>
      <vt:lpstr>A projekt áttekintése</vt:lpstr>
      <vt:lpstr>Adatbázis felépítése</vt:lpstr>
      <vt:lpstr>Adatbázis táblák</vt:lpstr>
      <vt:lpstr>PowerPoint-bemutató</vt:lpstr>
      <vt:lpstr>PowerPoint-bemutató</vt:lpstr>
      <vt:lpstr>Az alkalmazás felülete</vt:lpstr>
      <vt:lpstr>PowerPoint-bemutató</vt:lpstr>
      <vt:lpstr>Autók kezelése</vt:lpstr>
      <vt:lpstr>PowerPoint-bemutató</vt:lpstr>
      <vt:lpstr>Ügyfelek kezelése</vt:lpstr>
      <vt:lpstr>PowerPoint-bemutató</vt:lpstr>
      <vt:lpstr>Kölcsönzések kezelése</vt:lpstr>
      <vt:lpstr>PowerPoint-bemutató</vt:lpstr>
      <vt:lpstr>Keresés és szűrés</vt:lpstr>
      <vt:lpstr>PowerPoint-bemutató</vt:lpstr>
      <vt:lpstr>PowerPoint-bemutató</vt:lpstr>
      <vt:lpstr>WPF tervezés és kódrészletek</vt:lpstr>
      <vt:lpstr>PowerPoint-bemutató</vt:lpstr>
      <vt:lpstr>PowerPoint-bemutató</vt:lpstr>
      <vt:lpstr>PowerPoint-bemutató</vt:lpstr>
      <vt:lpstr>Összefoglalás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Túri Balázs</cp:lastModifiedBy>
  <cp:revision>5</cp:revision>
  <dcterms:created xsi:type="dcterms:W3CDTF">2013-01-27T09:14:16Z</dcterms:created>
  <dcterms:modified xsi:type="dcterms:W3CDTF">2026-04-16T11:01:07Z</dcterms:modified>
  <cp:category/>
</cp:coreProperties>
</file>